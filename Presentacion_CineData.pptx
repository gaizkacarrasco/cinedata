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3" r:id="rId6"/>
    <p:sldId id="260" r:id="rId7"/>
    <p:sldId id="261" r:id="rId8"/>
    <p:sldId id="264" r:id="rId9"/>
    <p:sldId id="262" r:id="rId10"/>
    <p:sldId id="266" r:id="rId11"/>
    <p:sldId id="268" r:id="rId12"/>
    <p:sldId id="271" r:id="rId13"/>
    <p:sldId id="269" r:id="rId14"/>
    <p:sldId id="272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1594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drive.google.com/file/d/1XqorDGc-5C1Yj5Pb2dmk6uzF_oAiHNNT/view?usp=sharing" TargetMode="Externa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-139126" y="2286000"/>
            <a:ext cx="822960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</a:defRPr>
            </a:pPr>
            <a:r>
              <a:rPr lang="es-ES" noProof="0" dirty="0" err="1"/>
              <a:t>CineData</a:t>
            </a:r>
            <a:r>
              <a:rPr lang="es-ES" noProof="0" dirty="0"/>
              <a:t> 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8404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C00000"/>
                </a:solidFill>
              </a:defRPr>
            </a:pPr>
            <a:r>
              <a:rPr lang="es-ES" noProof="0" dirty="0"/>
              <a:t>Plataforma de Gestión de Películas con Autenticación JWT</a:t>
            </a:r>
          </a:p>
        </p:txBody>
      </p:sp>
      <p:pic>
        <p:nvPicPr>
          <p:cNvPr id="5" name="Imagen 4" descr="Logotipo&#10;&#10;El contenido generado por IA puede ser incorrecto.">
            <a:extLst>
              <a:ext uri="{FF2B5EF4-FFF2-40B4-BE49-F238E27FC236}">
                <a16:creationId xmlns:a16="http://schemas.microsoft.com/office/drawing/2014/main" id="{9EDD4980-F9DA-6CCE-90EB-812D03E977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4725" y="1963648"/>
            <a:ext cx="1660366" cy="166036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rPr lang="es-ES" noProof="0" dirty="0"/>
              <a:t>Objetivo Principal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A72361AD-F7B4-EA14-F1F8-2C995085BA1E}"/>
              </a:ext>
            </a:extLst>
          </p:cNvPr>
          <p:cNvSpPr txBox="1"/>
          <p:nvPr/>
        </p:nvSpPr>
        <p:spPr>
          <a:xfrm>
            <a:off x="457200" y="1305341"/>
            <a:ext cx="8229600" cy="58118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sz="1600" b="1" noProof="0" dirty="0"/>
              <a:t>OBJETIVO PRINCIPAL: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noProof="0" dirty="0"/>
              <a:t>Desarrollar una plataforma web completa y funcional que permita a los usuarios explorar un catálogo de películas, buscar por criterios específicos y gestionar sus películas favoritas, con un sistema de autenticación segura basado en JWT.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sz="1600" b="1" noProof="0" dirty="0"/>
              <a:t>VISIÓN DEL PROYECTO: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noProof="0" dirty="0"/>
              <a:t>Crear un sistema escalable de microservicios que demuestre: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noProof="0" dirty="0"/>
              <a:t>  • Integración de múltiples tecnologías (Python + Node.js)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noProof="0" dirty="0"/>
              <a:t>  • Implementación de seguridad en producción (JWT, </a:t>
            </a:r>
            <a:r>
              <a:rPr lang="es-ES" noProof="0" dirty="0" err="1"/>
              <a:t>bcrypt</a:t>
            </a:r>
            <a:r>
              <a:rPr lang="es-ES" noProof="0" dirty="0"/>
              <a:t>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noProof="0" dirty="0"/>
              <a:t>  • Buenas prácticas de arquitectura (separación de responsabilidades)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noProof="0" dirty="0"/>
              <a:t>  • Automatización con Docker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noProof="0" dirty="0"/>
              <a:t>  • Experiencia de usuario moderna (</a:t>
            </a:r>
            <a:r>
              <a:rPr lang="es-ES" noProof="0" dirty="0" err="1"/>
              <a:t>React</a:t>
            </a:r>
            <a:r>
              <a:rPr lang="es-ES" noProof="0" dirty="0"/>
              <a:t> SPA)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sz="1600" b="1" noProof="0" dirty="0"/>
              <a:t>COMPETENCIAS DEMOSTRADAS: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noProof="0" dirty="0"/>
              <a:t>  • Full-</a:t>
            </a:r>
            <a:r>
              <a:rPr lang="es-ES" noProof="0" dirty="0" err="1"/>
              <a:t>Stack</a:t>
            </a:r>
            <a:r>
              <a:rPr lang="es-ES" noProof="0" dirty="0"/>
              <a:t> </a:t>
            </a:r>
            <a:r>
              <a:rPr lang="es-ES" noProof="0" dirty="0" err="1"/>
              <a:t>Development</a:t>
            </a:r>
            <a:r>
              <a:rPr lang="es-ES" noProof="0" dirty="0"/>
              <a:t>: </a:t>
            </a:r>
            <a:r>
              <a:rPr lang="es-ES" noProof="0" dirty="0" err="1"/>
              <a:t>Backend</a:t>
            </a:r>
            <a:r>
              <a:rPr lang="es-ES" noProof="0" dirty="0"/>
              <a:t> + </a:t>
            </a:r>
            <a:r>
              <a:rPr lang="es-ES" noProof="0" dirty="0" err="1"/>
              <a:t>Frontend</a:t>
            </a:r>
            <a:endParaRPr lang="es-ES" noProof="0" dirty="0"/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noProof="0" dirty="0"/>
              <a:t>  • Microservicios y </a:t>
            </a:r>
            <a:r>
              <a:rPr lang="es-ES" noProof="0" dirty="0" err="1"/>
              <a:t>APIs</a:t>
            </a:r>
            <a:r>
              <a:rPr lang="es-ES" noProof="0" dirty="0"/>
              <a:t> REST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noProof="0" dirty="0"/>
              <a:t>  • Gestión de datos en múltiples BD (MongoDB + MySQL)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noProof="0" dirty="0"/>
              <a:t>  • DevOps: Docker, Docker </a:t>
            </a:r>
            <a:r>
              <a:rPr lang="es-ES" noProof="0" dirty="0" err="1"/>
              <a:t>Compose</a:t>
            </a:r>
            <a:endParaRPr lang="es-ES" noProof="0" dirty="0"/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endParaRPr lang="es-ES" noProof="0" dirty="0"/>
          </a:p>
          <a:p>
            <a:endParaRPr lang="es-ES" noProof="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rPr lang="es-ES" noProof="0" dirty="0"/>
              <a:t>Modelo de Datos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3399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sz="1600" b="1" noProof="0" dirty="0"/>
              <a:t>MODELO DE DATOS RELACIONAL Y NO-RELACIONAL:</a:t>
            </a:r>
            <a:endParaRPr lang="es-ES" noProof="0" dirty="0"/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b="1" noProof="0" dirty="0"/>
              <a:t>MONGODB (NoSQL - Usuarios):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noProof="0" dirty="0"/>
              <a:t>  Colección: </a:t>
            </a:r>
            <a:r>
              <a:rPr lang="es-ES" noProof="0" dirty="0" err="1"/>
              <a:t>users</a:t>
            </a:r>
            <a:endParaRPr lang="es-ES" noProof="0" dirty="0"/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noProof="0" dirty="0"/>
              <a:t>  └─ _id: </a:t>
            </a:r>
            <a:r>
              <a:rPr lang="es-ES" noProof="0" dirty="0" err="1"/>
              <a:t>ObjectId</a:t>
            </a:r>
            <a:r>
              <a:rPr lang="es-ES" noProof="0" dirty="0"/>
              <a:t> (PK)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noProof="0" dirty="0"/>
              <a:t>  └─ </a:t>
            </a:r>
            <a:r>
              <a:rPr lang="es-ES" noProof="0" dirty="0" err="1"/>
              <a:t>username</a:t>
            </a:r>
            <a:r>
              <a:rPr lang="es-ES" noProof="0" dirty="0"/>
              <a:t>: </a:t>
            </a:r>
            <a:r>
              <a:rPr lang="es-ES" noProof="0" dirty="0" err="1"/>
              <a:t>string</a:t>
            </a:r>
            <a:r>
              <a:rPr lang="es-ES" noProof="0" dirty="0"/>
              <a:t> (único)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noProof="0" dirty="0"/>
              <a:t>  └─ email: </a:t>
            </a:r>
            <a:r>
              <a:rPr lang="es-ES" noProof="0" dirty="0" err="1"/>
              <a:t>string</a:t>
            </a:r>
            <a:r>
              <a:rPr lang="es-ES" noProof="0" dirty="0"/>
              <a:t> (único)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noProof="0" dirty="0"/>
              <a:t>  └─ </a:t>
            </a:r>
            <a:r>
              <a:rPr lang="es-ES" noProof="0" dirty="0" err="1"/>
              <a:t>password_hash</a:t>
            </a:r>
            <a:r>
              <a:rPr lang="es-ES" noProof="0" dirty="0"/>
              <a:t>: </a:t>
            </a:r>
            <a:r>
              <a:rPr lang="es-ES" noProof="0" dirty="0" err="1"/>
              <a:t>string</a:t>
            </a:r>
            <a:r>
              <a:rPr lang="es-ES" noProof="0" dirty="0"/>
              <a:t> (</a:t>
            </a:r>
            <a:r>
              <a:rPr lang="es-ES" noProof="0" dirty="0" err="1"/>
              <a:t>bcrypt</a:t>
            </a:r>
            <a:r>
              <a:rPr lang="es-ES" noProof="0" dirty="0"/>
              <a:t>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noProof="0" dirty="0"/>
              <a:t>  └─ role: </a:t>
            </a:r>
            <a:r>
              <a:rPr lang="es-ES" noProof="0" dirty="0" err="1"/>
              <a:t>string</a:t>
            </a:r>
            <a:r>
              <a:rPr lang="es-ES" noProof="0" dirty="0"/>
              <a:t> (</a:t>
            </a:r>
            <a:r>
              <a:rPr lang="es-ES" noProof="0" dirty="0" err="1"/>
              <a:t>user</a:t>
            </a:r>
            <a:r>
              <a:rPr lang="es-ES" noProof="0" dirty="0"/>
              <a:t>/</a:t>
            </a:r>
            <a:r>
              <a:rPr lang="es-ES" noProof="0" dirty="0" err="1"/>
              <a:t>admin</a:t>
            </a:r>
            <a:r>
              <a:rPr lang="es-ES" noProof="0" dirty="0"/>
              <a:t>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noProof="0" dirty="0"/>
              <a:t>  └─ favorites: </a:t>
            </a:r>
            <a:r>
              <a:rPr lang="es-ES" sz="1500" noProof="0" dirty="0"/>
              <a:t>(</a:t>
            </a:r>
            <a:r>
              <a:rPr lang="es-ES" sz="1500" noProof="0" dirty="0" err="1"/>
              <a:t>List</a:t>
            </a:r>
            <a:r>
              <a:rPr lang="es-ES" sz="1500" noProof="0" dirty="0"/>
              <a:t>[</a:t>
            </a:r>
            <a:r>
              <a:rPr lang="es-ES" sz="1500" noProof="0" dirty="0" err="1"/>
              <a:t>int</a:t>
            </a:r>
            <a:r>
              <a:rPr lang="es-ES" sz="1500" noProof="0" dirty="0"/>
              <a:t>] - </a:t>
            </a:r>
            <a:r>
              <a:rPr lang="es-ES" sz="1500" noProof="0" dirty="0" err="1"/>
              <a:t>IDs</a:t>
            </a:r>
            <a:r>
              <a:rPr lang="es-ES" sz="1500" noProof="0" dirty="0"/>
              <a:t> de películas)</a:t>
            </a:r>
            <a:endParaRPr lang="es-ES" noProof="0" dirty="0"/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noProof="0" dirty="0"/>
              <a:t>  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endParaRPr lang="es-ES" noProof="0" dirty="0"/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endParaRPr lang="es-ES" noProof="0" dirty="0"/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b="1" noProof="0" dirty="0"/>
              <a:t>RELACIÓN ENTRE TABLAS: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noProof="0" dirty="0"/>
              <a:t>  • </a:t>
            </a:r>
            <a:r>
              <a:rPr lang="es-ES" noProof="0" dirty="0" err="1"/>
              <a:t>users.favorites</a:t>
            </a:r>
            <a:r>
              <a:rPr lang="es-ES" noProof="0" dirty="0"/>
              <a:t> -&gt; almacena </a:t>
            </a:r>
            <a:r>
              <a:rPr lang="es-ES" noProof="0" dirty="0" err="1"/>
              <a:t>IDs</a:t>
            </a:r>
            <a:r>
              <a:rPr lang="es-ES" noProof="0" dirty="0"/>
              <a:t> de </a:t>
            </a:r>
            <a:r>
              <a:rPr lang="es-ES" noProof="0" dirty="0" err="1"/>
              <a:t>movies</a:t>
            </a:r>
            <a:endParaRPr lang="es-ES" noProof="0" dirty="0"/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noProof="0" dirty="0"/>
              <a:t>  • </a:t>
            </a:r>
            <a:r>
              <a:rPr lang="es-ES" noProof="0" dirty="0" err="1"/>
              <a:t>Denormalización</a:t>
            </a:r>
            <a:r>
              <a:rPr lang="es-ES" noProof="0" dirty="0"/>
              <a:t> intencional para optimizar consultas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noProof="0" dirty="0"/>
              <a:t>  • Facilita búsquedas rápidas de favoritos por usuario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C65D99DC-0C96-9CD1-CB7D-67F2E86C8D9A}"/>
              </a:ext>
            </a:extLst>
          </p:cNvPr>
          <p:cNvSpPr txBox="1"/>
          <p:nvPr/>
        </p:nvSpPr>
        <p:spPr>
          <a:xfrm>
            <a:off x="5889524" y="1464212"/>
            <a:ext cx="2908266" cy="36574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b="1" noProof="0" dirty="0"/>
              <a:t>MYSQL (Relacional - Películas):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noProof="0" dirty="0"/>
              <a:t>  Tabla: </a:t>
            </a:r>
            <a:r>
              <a:rPr lang="es-ES" noProof="0" dirty="0" err="1"/>
              <a:t>movies</a:t>
            </a:r>
            <a:endParaRPr lang="es-ES" noProof="0" dirty="0"/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noProof="0" dirty="0"/>
              <a:t>  └─ id: INT (PK)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noProof="0" dirty="0"/>
              <a:t>  └─ </a:t>
            </a:r>
            <a:r>
              <a:rPr lang="es-ES" noProof="0" dirty="0" err="1"/>
              <a:t>external_id</a:t>
            </a:r>
            <a:r>
              <a:rPr lang="es-ES" noProof="0" dirty="0"/>
              <a:t>: INT (único)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noProof="0" dirty="0"/>
              <a:t>  └─ </a:t>
            </a:r>
            <a:r>
              <a:rPr lang="es-ES" noProof="0" dirty="0" err="1"/>
              <a:t>title</a:t>
            </a:r>
            <a:r>
              <a:rPr lang="es-ES" noProof="0" dirty="0"/>
              <a:t>: VARCHAR (título)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noProof="0" dirty="0"/>
              <a:t>  └─ </a:t>
            </a:r>
            <a:r>
              <a:rPr lang="es-ES" noProof="0" dirty="0" err="1"/>
              <a:t>description</a:t>
            </a:r>
            <a:r>
              <a:rPr lang="es-ES" noProof="0" dirty="0"/>
              <a:t>: TEXT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noProof="0" dirty="0"/>
              <a:t>  └─ </a:t>
            </a:r>
            <a:r>
              <a:rPr lang="es-ES" noProof="0" dirty="0" err="1"/>
              <a:t>year</a:t>
            </a:r>
            <a:r>
              <a:rPr lang="es-ES" noProof="0" dirty="0"/>
              <a:t>: INT (año lanzamiento)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noProof="0" dirty="0"/>
              <a:t>  └─ </a:t>
            </a:r>
            <a:r>
              <a:rPr lang="es-ES" noProof="0" dirty="0" err="1"/>
              <a:t>image_url</a:t>
            </a:r>
            <a:r>
              <a:rPr lang="es-ES" noProof="0" dirty="0"/>
              <a:t>: VARCHAR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noProof="0" dirty="0"/>
              <a:t>  └─ </a:t>
            </a:r>
            <a:r>
              <a:rPr lang="es-ES" noProof="0" dirty="0" err="1"/>
              <a:t>genre</a:t>
            </a:r>
            <a:r>
              <a:rPr lang="es-ES" noProof="0" dirty="0"/>
              <a:t>: VARCHAR (género)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noProof="0" dirty="0"/>
              <a:t>  └─ </a:t>
            </a:r>
            <a:r>
              <a:rPr lang="es-ES" noProof="0" dirty="0" err="1"/>
              <a:t>stars</a:t>
            </a:r>
            <a:r>
              <a:rPr lang="es-ES" noProof="0" dirty="0"/>
              <a:t>: DECIMAL (valoración)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noProof="0" dirty="0"/>
              <a:t>  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rPr lang="es-ES" noProof="0" dirty="0"/>
              <a:t>Funcionalidades &amp; </a:t>
            </a:r>
            <a:r>
              <a:rPr lang="es-ES" noProof="0" dirty="0" err="1"/>
              <a:t>APIs</a:t>
            </a:r>
            <a:endParaRPr lang="es-ES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4544470" cy="53245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sz="1600" b="1" noProof="0" dirty="0"/>
              <a:t>AUTENTICACIÓN Y USUARIOS: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noProof="0" dirty="0"/>
              <a:t>  • Registro con validación de email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noProof="0" dirty="0"/>
              <a:t>  • </a:t>
            </a:r>
            <a:r>
              <a:rPr lang="es-ES" noProof="0" dirty="0" err="1"/>
              <a:t>Login</a:t>
            </a:r>
            <a:r>
              <a:rPr lang="es-ES" noProof="0" dirty="0"/>
              <a:t> con generación de JWT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noProof="0" dirty="0"/>
              <a:t>  • </a:t>
            </a:r>
            <a:r>
              <a:rPr lang="es-ES" noProof="0" dirty="0" err="1"/>
              <a:t>Logout</a:t>
            </a:r>
            <a:r>
              <a:rPr lang="es-ES" noProof="0" dirty="0"/>
              <a:t> con revocación de tokens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noProof="0" dirty="0"/>
              <a:t>  • Contraseñas </a:t>
            </a:r>
            <a:r>
              <a:rPr lang="es-ES" noProof="0" dirty="0" err="1"/>
              <a:t>hasheadas</a:t>
            </a:r>
            <a:r>
              <a:rPr lang="es-ES" noProof="0" dirty="0"/>
              <a:t> con </a:t>
            </a:r>
            <a:r>
              <a:rPr lang="es-ES" noProof="0" dirty="0" err="1"/>
              <a:t>bcrypt</a:t>
            </a:r>
            <a:endParaRPr lang="es-ES" noProof="0" dirty="0"/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endParaRPr lang="es-ES" noProof="0" dirty="0"/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sz="1600" b="1" noProof="0" dirty="0"/>
              <a:t>CATÁLOGO DE PELÍCULAS: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noProof="0" dirty="0"/>
              <a:t>  • Listado completo con información detallada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noProof="0" dirty="0"/>
              <a:t>  • Búsqueda en tiempo real por título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noProof="0" dirty="0"/>
              <a:t>  • Filtros por género, año de lanzamiento y valoración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noProof="0" dirty="0"/>
              <a:t>  • Vista modal con detalles de película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endParaRPr lang="es-ES" noProof="0" dirty="0"/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sz="1600" b="1" noProof="0" dirty="0"/>
              <a:t>SISTEMA DE FAVORITOS: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noProof="0" dirty="0"/>
              <a:t>  • Guardar películas como favoritas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noProof="0" dirty="0"/>
              <a:t>  • Vista dedicada para favoritos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noProof="0" dirty="0"/>
              <a:t>  • Sincronización en tiempo real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FA6FB84E-E914-3794-2E50-98AA5E661E97}"/>
              </a:ext>
            </a:extLst>
          </p:cNvPr>
          <p:cNvSpPr txBox="1"/>
          <p:nvPr/>
        </p:nvSpPr>
        <p:spPr>
          <a:xfrm>
            <a:off x="5093110" y="1097280"/>
            <a:ext cx="3785419" cy="34470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sz="1600" b="1" noProof="0" dirty="0"/>
              <a:t>PANEL ADMINISTRATIVO: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noProof="0" dirty="0"/>
              <a:t>  • Listar todos los usuarios del sistema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noProof="0" dirty="0"/>
              <a:t>  • Eliminar usuarios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noProof="0" dirty="0"/>
              <a:t>  • Control de acceso restringido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endParaRPr lang="es-ES" noProof="0" dirty="0"/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sz="1600" b="1" noProof="0" dirty="0" err="1"/>
              <a:t>APIs</a:t>
            </a:r>
            <a:r>
              <a:rPr lang="es-ES" sz="1600" b="1" noProof="0" dirty="0"/>
              <a:t> REST: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noProof="0" dirty="0"/>
              <a:t>  • </a:t>
            </a:r>
            <a:r>
              <a:rPr lang="es-ES" noProof="0" dirty="0" err="1"/>
              <a:t>UserService</a:t>
            </a:r>
            <a:r>
              <a:rPr lang="es-ES" noProof="0" dirty="0"/>
              <a:t>: 10+ </a:t>
            </a:r>
            <a:r>
              <a:rPr lang="es-ES" noProof="0" dirty="0" err="1"/>
              <a:t>endpoints</a:t>
            </a:r>
            <a:r>
              <a:rPr lang="es-ES" noProof="0" dirty="0"/>
              <a:t> (</a:t>
            </a:r>
            <a:r>
              <a:rPr lang="es-ES" noProof="0" dirty="0" err="1"/>
              <a:t>FastAPI</a:t>
            </a:r>
            <a:r>
              <a:rPr lang="es-ES" noProof="0" dirty="0"/>
              <a:t> en Python)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noProof="0" dirty="0"/>
              <a:t>  • </a:t>
            </a:r>
            <a:r>
              <a:rPr lang="es-ES" noProof="0" dirty="0" err="1"/>
              <a:t>MovieService</a:t>
            </a:r>
            <a:r>
              <a:rPr lang="es-ES" noProof="0" dirty="0"/>
              <a:t>: 4+ </a:t>
            </a:r>
            <a:r>
              <a:rPr lang="es-ES" noProof="0" dirty="0" err="1"/>
              <a:t>endpoints</a:t>
            </a:r>
            <a:r>
              <a:rPr lang="es-ES" noProof="0" dirty="0"/>
              <a:t> (Express en Node.js)</a:t>
            </a:r>
          </a:p>
          <a:p>
            <a:endParaRPr lang="es-ES" noProof="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5E549F-D310-63EA-1A24-940498BAC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144AB3C-6CB7-49CF-E341-1F0369EA5DDD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A7E7A95-2F9A-0E87-1FBD-3FED4608977D}"/>
              </a:ext>
            </a:extLst>
          </p:cNvPr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rPr lang="es-ES" noProof="0" dirty="0"/>
              <a:t>Arquitectura &amp; Tecnologías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E1C2497-1A5E-3145-D9EA-C746F8B4CD85}"/>
              </a:ext>
            </a:extLst>
          </p:cNvPr>
          <p:cNvSpPr txBox="1"/>
          <p:nvPr/>
        </p:nvSpPr>
        <p:spPr>
          <a:xfrm>
            <a:off x="548640" y="1097280"/>
            <a:ext cx="8046720" cy="43242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sz="1600" b="1" noProof="0" dirty="0"/>
              <a:t>TIPO DE ARQUITECTURA: MICROSERVICIOS CON API GATEWAY: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noProof="0" dirty="0"/>
              <a:t>  • API Gateway centralizado (Express.js en Node.js)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noProof="0" dirty="0"/>
              <a:t>  • 2 servicios </a:t>
            </a:r>
            <a:r>
              <a:rPr lang="es-ES" noProof="0" dirty="0" err="1"/>
              <a:t>backend</a:t>
            </a:r>
            <a:r>
              <a:rPr lang="es-ES" noProof="0" dirty="0"/>
              <a:t> independientes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noProof="0" dirty="0"/>
              <a:t>  • 2 bases de datos especializadas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noProof="0" dirty="0"/>
              <a:t>  • </a:t>
            </a:r>
            <a:r>
              <a:rPr lang="es-ES" noProof="0" dirty="0" err="1"/>
              <a:t>Frontend</a:t>
            </a:r>
            <a:r>
              <a:rPr lang="es-ES" noProof="0" dirty="0"/>
              <a:t> desvinculado de la lógica del servidor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noProof="0" dirty="0"/>
              <a:t>  • Cada servicio puede escalarse independientemente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endParaRPr lang="es-ES" noProof="0" dirty="0"/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sz="1600" b="1" noProof="0" dirty="0"/>
              <a:t>STACK TECNOLÓGICO: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noProof="0" dirty="0"/>
              <a:t>  • API Gateway: Express.js en Node.js (puerto 8080)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noProof="0" dirty="0"/>
              <a:t>  • </a:t>
            </a:r>
            <a:r>
              <a:rPr lang="es-ES" noProof="0" dirty="0" err="1"/>
              <a:t>Backend</a:t>
            </a:r>
            <a:r>
              <a:rPr lang="es-ES" noProof="0" dirty="0"/>
              <a:t> 1: </a:t>
            </a:r>
            <a:r>
              <a:rPr lang="es-ES" noProof="0" dirty="0" err="1"/>
              <a:t>FastAPI</a:t>
            </a:r>
            <a:r>
              <a:rPr lang="es-ES" noProof="0" dirty="0"/>
              <a:t> + Motor (</a:t>
            </a:r>
            <a:r>
              <a:rPr lang="es-ES" noProof="0" dirty="0" err="1"/>
              <a:t>async</a:t>
            </a:r>
            <a:r>
              <a:rPr lang="es-ES" noProof="0" dirty="0"/>
              <a:t> MongoDB) en Python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noProof="0" dirty="0"/>
              <a:t>  • </a:t>
            </a:r>
            <a:r>
              <a:rPr lang="es-ES" noProof="0" dirty="0" err="1"/>
              <a:t>Backend</a:t>
            </a:r>
            <a:r>
              <a:rPr lang="es-ES" noProof="0" dirty="0"/>
              <a:t> 2: Express.js + MySQL en Node.js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noProof="0" dirty="0"/>
              <a:t>  • </a:t>
            </a:r>
            <a:r>
              <a:rPr lang="es-ES" noProof="0" dirty="0" err="1"/>
              <a:t>Frontend</a:t>
            </a:r>
            <a:r>
              <a:rPr lang="es-ES" noProof="0" dirty="0"/>
              <a:t>: </a:t>
            </a:r>
            <a:r>
              <a:rPr lang="es-ES" noProof="0" dirty="0" err="1"/>
              <a:t>React</a:t>
            </a:r>
            <a:r>
              <a:rPr lang="es-ES" noProof="0" dirty="0"/>
              <a:t> 19 + Vite + </a:t>
            </a:r>
            <a:r>
              <a:rPr lang="es-ES" noProof="0" dirty="0" err="1"/>
              <a:t>React</a:t>
            </a:r>
            <a:r>
              <a:rPr lang="es-ES" noProof="0" dirty="0"/>
              <a:t> </a:t>
            </a:r>
            <a:r>
              <a:rPr lang="es-ES" noProof="0" dirty="0" err="1"/>
              <a:t>Router</a:t>
            </a:r>
            <a:r>
              <a:rPr lang="es-ES" noProof="0" dirty="0"/>
              <a:t> v7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noProof="0" dirty="0"/>
              <a:t>  • DevOps: Docker + Docker </a:t>
            </a:r>
            <a:r>
              <a:rPr lang="es-ES" noProof="0" dirty="0" err="1"/>
              <a:t>Compose</a:t>
            </a:r>
            <a:r>
              <a:rPr lang="es-ES" noProof="0" dirty="0"/>
              <a:t> + </a:t>
            </a:r>
            <a:r>
              <a:rPr lang="es-ES" noProof="0" dirty="0" err="1"/>
              <a:t>Nginx</a:t>
            </a:r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20864794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rPr lang="es-ES" noProof="0" dirty="0"/>
              <a:t>Arquitectura &amp; Tecnologías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3245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b="1" noProof="0" dirty="0"/>
              <a:t>API GATEWAY - PUNTO DE ENTRADA ÚNICO: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noProof="0" dirty="0"/>
              <a:t>  • Autenticación JWT centralizada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noProof="0" dirty="0"/>
              <a:t>  • Proxy inverso inteligente hacia servicios </a:t>
            </a:r>
            <a:r>
              <a:rPr lang="es-ES" noProof="0" dirty="0" err="1"/>
              <a:t>backend</a:t>
            </a:r>
            <a:endParaRPr lang="es-ES" noProof="0" dirty="0"/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noProof="0" dirty="0"/>
              <a:t>  • Mapeo de rutas: /</a:t>
            </a:r>
            <a:r>
              <a:rPr lang="es-ES" noProof="0" dirty="0" err="1"/>
              <a:t>auth</a:t>
            </a:r>
            <a:r>
              <a:rPr lang="es-ES" noProof="0" dirty="0"/>
              <a:t>/* → /</a:t>
            </a:r>
            <a:r>
              <a:rPr lang="es-ES" noProof="0" dirty="0" err="1"/>
              <a:t>users</a:t>
            </a:r>
            <a:r>
              <a:rPr lang="es-ES" noProof="0" dirty="0"/>
              <a:t>/* (</a:t>
            </a:r>
            <a:r>
              <a:rPr lang="es-ES" noProof="0" dirty="0" err="1"/>
              <a:t>users</a:t>
            </a:r>
            <a:r>
              <a:rPr lang="es-ES" noProof="0" dirty="0"/>
              <a:t> </a:t>
            </a:r>
            <a:r>
              <a:rPr lang="es-ES" noProof="0" dirty="0" err="1"/>
              <a:t>service</a:t>
            </a:r>
            <a:r>
              <a:rPr lang="es-ES" noProof="0" dirty="0"/>
              <a:t>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noProof="0" dirty="0"/>
              <a:t>  • Manejo de rutas públicas y protegidas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noProof="0" dirty="0"/>
              <a:t>  • </a:t>
            </a:r>
            <a:r>
              <a:rPr lang="es-ES" noProof="0" dirty="0" err="1"/>
              <a:t>Logging</a:t>
            </a:r>
            <a:r>
              <a:rPr lang="es-ES" noProof="0" dirty="0"/>
              <a:t> centralizado con Morgan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noProof="0" dirty="0"/>
              <a:t>  • CORS configurado para </a:t>
            </a:r>
            <a:r>
              <a:rPr lang="es-ES" noProof="0" dirty="0" err="1"/>
              <a:t>frontend</a:t>
            </a:r>
            <a:endParaRPr lang="es-ES" noProof="0" dirty="0"/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endParaRPr lang="es-ES" noProof="0" dirty="0"/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b="1" noProof="0" dirty="0"/>
              <a:t>ARQUITECTURA DE FRONTEND: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noProof="0" dirty="0"/>
              <a:t>  • SPA (Single Page </a:t>
            </a:r>
            <a:r>
              <a:rPr lang="es-ES" noProof="0" dirty="0" err="1"/>
              <a:t>Application</a:t>
            </a:r>
            <a:r>
              <a:rPr lang="es-ES" noProof="0" dirty="0"/>
              <a:t>) con </a:t>
            </a:r>
            <a:r>
              <a:rPr lang="es-ES" noProof="0" dirty="0" err="1"/>
              <a:t>React</a:t>
            </a:r>
            <a:endParaRPr lang="es-ES" noProof="0" dirty="0"/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noProof="0" dirty="0"/>
              <a:t>  • CSR (Client-</a:t>
            </a:r>
            <a:r>
              <a:rPr lang="es-ES" noProof="0" dirty="0" err="1"/>
              <a:t>Side</a:t>
            </a:r>
            <a:r>
              <a:rPr lang="es-ES" noProof="0" dirty="0"/>
              <a:t> </a:t>
            </a:r>
            <a:r>
              <a:rPr lang="es-ES" noProof="0" dirty="0" err="1"/>
              <a:t>Rendering</a:t>
            </a:r>
            <a:r>
              <a:rPr lang="es-ES" noProof="0" dirty="0"/>
              <a:t>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noProof="0" dirty="0"/>
              <a:t>  • Enrutamiento con </a:t>
            </a:r>
            <a:r>
              <a:rPr lang="es-ES" noProof="0" dirty="0" err="1"/>
              <a:t>React</a:t>
            </a:r>
            <a:r>
              <a:rPr lang="es-ES" noProof="0" dirty="0"/>
              <a:t> </a:t>
            </a:r>
            <a:r>
              <a:rPr lang="es-ES" noProof="0" dirty="0" err="1"/>
              <a:t>Router</a:t>
            </a:r>
            <a:r>
              <a:rPr lang="es-ES" noProof="0" dirty="0"/>
              <a:t> v7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noProof="0" dirty="0"/>
              <a:t>  • Comunicación con </a:t>
            </a:r>
            <a:r>
              <a:rPr lang="es-ES" noProof="0" dirty="0" err="1"/>
              <a:t>gateway</a:t>
            </a:r>
            <a:r>
              <a:rPr lang="es-ES" noProof="0" dirty="0"/>
              <a:t> en puerto 8080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endParaRPr lang="es-ES" noProof="0" dirty="0"/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b="1" noProof="0" dirty="0"/>
              <a:t>FLUJO DE COMUNICACIÓN: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noProof="0" dirty="0"/>
              <a:t>  </a:t>
            </a:r>
            <a:r>
              <a:rPr lang="es-ES" noProof="0" dirty="0" err="1"/>
              <a:t>Frontend</a:t>
            </a:r>
            <a:r>
              <a:rPr lang="es-ES" noProof="0" dirty="0"/>
              <a:t> (5173) → API Gateway (8080) → Servicios (8000, 3001)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rPr lang="es-ES" noProof="0" dirty="0"/>
              <a:t>Lecciones &amp; Aspectos Avanzados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sz="1600" b="1" noProof="0" dirty="0"/>
              <a:t>LECCIONES APRENDIDAS: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noProof="0" dirty="0"/>
              <a:t>  • Integración eficiente de múltiples lenguajes (Python + Node.js)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noProof="0" dirty="0"/>
              <a:t>  • Orquestación compleja con Docker </a:t>
            </a:r>
            <a:r>
              <a:rPr lang="es-ES" noProof="0" dirty="0" err="1"/>
              <a:t>Compose</a:t>
            </a:r>
            <a:r>
              <a:rPr lang="es-ES" noProof="0" dirty="0"/>
              <a:t> (6 contenedores)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noProof="0" dirty="0"/>
              <a:t>  • Gestión de dependencias entre servicios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noProof="0" dirty="0"/>
              <a:t>  • Implementación de API Gateway para centralizar autenticación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sz="1600" b="1" noProof="0" dirty="0"/>
              <a:t>ASPECTOS AVANZADOS IMPLEMENTADOS: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noProof="0" dirty="0"/>
              <a:t>  • API Gateway con proxy inverso inteligente (</a:t>
            </a:r>
            <a:r>
              <a:rPr lang="es-ES" noProof="0" dirty="0" err="1"/>
              <a:t>express</a:t>
            </a:r>
            <a:r>
              <a:rPr lang="es-ES" noProof="0" dirty="0"/>
              <a:t>-http-proxy)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noProof="0" dirty="0"/>
              <a:t>  • Mapeo de rutas y validación centralizada de JWT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noProof="0" dirty="0"/>
              <a:t>  • </a:t>
            </a:r>
            <a:r>
              <a:rPr lang="es-ES" noProof="0" dirty="0" err="1"/>
              <a:t>Async</a:t>
            </a:r>
            <a:r>
              <a:rPr lang="es-ES" noProof="0" dirty="0"/>
              <a:t>/</a:t>
            </a:r>
            <a:r>
              <a:rPr lang="es-ES" noProof="0" dirty="0" err="1"/>
              <a:t>await</a:t>
            </a:r>
            <a:r>
              <a:rPr lang="es-ES" noProof="0" dirty="0"/>
              <a:t> en </a:t>
            </a:r>
            <a:r>
              <a:rPr lang="es-ES" noProof="0" dirty="0" err="1"/>
              <a:t>FastAPI</a:t>
            </a:r>
            <a:r>
              <a:rPr lang="es-ES" noProof="0" dirty="0"/>
              <a:t>: operaciones no-bloqueantes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noProof="0" dirty="0"/>
              <a:t>  • Motor: driver </a:t>
            </a:r>
            <a:r>
              <a:rPr lang="es-ES" noProof="0" dirty="0" err="1"/>
              <a:t>async</a:t>
            </a:r>
            <a:r>
              <a:rPr lang="es-ES" noProof="0" dirty="0"/>
              <a:t> para MongoDB con alta concurrencia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noProof="0" dirty="0"/>
              <a:t>  • JWT con tokens con expiración y revocación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noProof="0" dirty="0"/>
              <a:t>  • CORS configurado en </a:t>
            </a:r>
            <a:r>
              <a:rPr lang="es-ES" noProof="0" dirty="0" err="1"/>
              <a:t>gateway</a:t>
            </a:r>
            <a:r>
              <a:rPr lang="es-ES" noProof="0" dirty="0"/>
              <a:t> y </a:t>
            </a:r>
            <a:r>
              <a:rPr lang="es-ES" noProof="0" dirty="0" err="1"/>
              <a:t>backends</a:t>
            </a:r>
            <a:r>
              <a:rPr lang="es-ES" noProof="0" dirty="0"/>
              <a:t> para seguridad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noProof="0" dirty="0"/>
              <a:t>  • Rutas protegidas: </a:t>
            </a:r>
            <a:r>
              <a:rPr lang="es-ES" noProof="0" dirty="0" err="1"/>
              <a:t>ProtectedRoute</a:t>
            </a:r>
            <a:r>
              <a:rPr lang="es-ES" noProof="0" dirty="0"/>
              <a:t> y </a:t>
            </a:r>
            <a:r>
              <a:rPr lang="es-ES" noProof="0" dirty="0" err="1"/>
              <a:t>AdminRoute</a:t>
            </a:r>
            <a:r>
              <a:rPr lang="es-ES" noProof="0" dirty="0"/>
              <a:t> en </a:t>
            </a:r>
            <a:r>
              <a:rPr lang="es-ES" noProof="0" dirty="0" err="1"/>
              <a:t>React</a:t>
            </a:r>
            <a:endParaRPr lang="es-ES" noProof="0" dirty="0"/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noProof="0" dirty="0"/>
              <a:t>  • Validación de entrada con </a:t>
            </a:r>
            <a:r>
              <a:rPr lang="es-ES" noProof="0" dirty="0" err="1"/>
              <a:t>Pydantic</a:t>
            </a:r>
            <a:r>
              <a:rPr lang="es-ES" noProof="0" dirty="0"/>
              <a:t> </a:t>
            </a:r>
            <a:r>
              <a:rPr lang="es-ES" noProof="0" dirty="0" err="1"/>
              <a:t>schemas</a:t>
            </a:r>
            <a:endParaRPr lang="es-ES" noProof="0" dirty="0"/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noProof="0" dirty="0"/>
              <a:t>  • </a:t>
            </a:r>
            <a:r>
              <a:rPr lang="es-ES" noProof="0" dirty="0" err="1"/>
              <a:t>Hashing</a:t>
            </a:r>
            <a:r>
              <a:rPr lang="es-ES" noProof="0" dirty="0"/>
              <a:t> seguro de contraseñas con </a:t>
            </a:r>
            <a:r>
              <a:rPr lang="es-ES" noProof="0" dirty="0" err="1"/>
              <a:t>bcrypt</a:t>
            </a:r>
            <a:endParaRPr lang="es-ES" noProof="0" dirty="0"/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noProof="0" dirty="0"/>
              <a:t>  • Control de acceso basado en roles (RBAC)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3B6CEC-3A0A-7E86-359E-F2B7EB5D8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6A376FE-2887-500A-7FE4-8915C73D39C5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C04EC49-C050-28A9-3878-B1B0D743B423}"/>
              </a:ext>
            </a:extLst>
          </p:cNvPr>
          <p:cNvSpPr txBox="1"/>
          <p:nvPr/>
        </p:nvSpPr>
        <p:spPr>
          <a:xfrm>
            <a:off x="457200" y="182880"/>
            <a:ext cx="6142579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rPr lang="es-ES" noProof="0" dirty="0"/>
              <a:t>Razonamiento sobre la nota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BC65490-222F-9F8D-8C30-7F19A8B1488A}"/>
              </a:ext>
            </a:extLst>
          </p:cNvPr>
          <p:cNvSpPr txBox="1"/>
          <p:nvPr/>
        </p:nvSpPr>
        <p:spPr>
          <a:xfrm>
            <a:off x="548640" y="1097280"/>
            <a:ext cx="8046720" cy="23237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sz="1600" b="1" noProof="0" dirty="0"/>
              <a:t>POR QUÉ MERECE MI PROYECTO BUENA NOTA: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noProof="0" dirty="0"/>
              <a:t> • Sistema COMPLETO y FUNCIONAL (Full-</a:t>
            </a:r>
            <a:r>
              <a:rPr lang="es-ES" noProof="0" dirty="0" err="1"/>
              <a:t>Stack</a:t>
            </a:r>
            <a:r>
              <a:rPr lang="es-ES" noProof="0" dirty="0"/>
              <a:t> + Gateway)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noProof="0" dirty="0"/>
              <a:t> • Arquitectura PROFESIONAL (3-tier con API Gateway)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noProof="0" dirty="0"/>
              <a:t> • SEGURIDAD en múltiples niveles (JWT + RBAC + CORS)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noProof="0" dirty="0"/>
              <a:t> • BUENAS PRÁCTICAS y patrones de diseño actuales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noProof="0" dirty="0"/>
              <a:t> • ESCALABLE y MANTENIBLE para producción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noProof="0" dirty="0"/>
              <a:t> • </a:t>
            </a:r>
            <a:r>
              <a:rPr lang="es-ES" noProof="0" dirty="0" err="1"/>
              <a:t>Containerizado</a:t>
            </a:r>
            <a:r>
              <a:rPr lang="es-ES" noProof="0" dirty="0"/>
              <a:t> con Docker para reproducibilidad</a:t>
            </a:r>
          </a:p>
        </p:txBody>
      </p:sp>
    </p:spTree>
    <p:extLst>
      <p:ext uri="{BB962C8B-B14F-4D97-AF65-F5344CB8AC3E}">
        <p14:creationId xmlns:p14="http://schemas.microsoft.com/office/powerpoint/2010/main" val="13247930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459054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rPr lang="es-ES" noProof="0" dirty="0"/>
              <a:t>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sz="1600" b="1" noProof="0" dirty="0"/>
              <a:t>PASOS DE LA DEMO: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noProof="0" dirty="0"/>
              <a:t>  1. Acceder a http://localhost:5173 (</a:t>
            </a:r>
            <a:r>
              <a:rPr lang="es-ES" noProof="0" dirty="0" err="1"/>
              <a:t>Frontend</a:t>
            </a:r>
            <a:r>
              <a:rPr lang="es-ES" noProof="0" dirty="0"/>
              <a:t> </a:t>
            </a:r>
            <a:r>
              <a:rPr lang="es-ES" noProof="0" dirty="0" err="1"/>
              <a:t>React</a:t>
            </a:r>
            <a:r>
              <a:rPr lang="es-ES" noProof="0" dirty="0"/>
              <a:t>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noProof="0" dirty="0"/>
              <a:t>  2. Registrarse con email y contraseña (JWT generado)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noProof="0" dirty="0"/>
              <a:t>  3. Explorar catálogo completo de películas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noProof="0" dirty="0"/>
              <a:t>  4. Búsqueda en tiempo real por título de película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noProof="0" dirty="0"/>
              <a:t>  5. Filtrar películas por género (</a:t>
            </a:r>
            <a:r>
              <a:rPr lang="es-ES" noProof="0" dirty="0" err="1"/>
              <a:t>Action</a:t>
            </a:r>
            <a:r>
              <a:rPr lang="es-ES" noProof="0" dirty="0"/>
              <a:t>, Drama, etc.)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noProof="0" dirty="0"/>
              <a:t>  6. Filtrar películas por año de lanzamiento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noProof="0" dirty="0"/>
              <a:t>  7. Hacer clic en película para ver detalles en modal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noProof="0" dirty="0"/>
              <a:t>  8. Guardar/quitar películas de favoritos (⭐)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noProof="0" dirty="0"/>
              <a:t>  9. Ver sección de películas favoritas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noProof="0" dirty="0"/>
              <a:t>  10. Panel </a:t>
            </a:r>
            <a:r>
              <a:rPr lang="es-ES" noProof="0" dirty="0" err="1"/>
              <a:t>Admin</a:t>
            </a:r>
            <a:r>
              <a:rPr lang="es-ES" noProof="0" dirty="0"/>
              <a:t> (usuario </a:t>
            </a:r>
            <a:r>
              <a:rPr lang="es-ES" noProof="0" dirty="0" err="1"/>
              <a:t>admin</a:t>
            </a:r>
            <a:r>
              <a:rPr lang="es-ES" noProof="0" dirty="0"/>
              <a:t>): ver y eliminar usuarios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noProof="0" dirty="0"/>
              <a:t>  11. </a:t>
            </a:r>
            <a:r>
              <a:rPr lang="es-ES" noProof="0" dirty="0" err="1"/>
              <a:t>Logout</a:t>
            </a:r>
            <a:r>
              <a:rPr lang="es-ES" noProof="0" dirty="0"/>
              <a:t> seguro (revocación de token)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endParaRPr lang="es-ES" dirty="0"/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sz="1600" b="1" dirty="0"/>
              <a:t>ENLACE AL VÍDEO: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dirty="0">
                <a:hlinkClick r:id="rId2"/>
              </a:rPr>
              <a:t>https://drive.google.com/file/d/1XqorDGc-5C1Yj5Pb2dmk6uzF_oAiHNNT/view?usp=sharing</a:t>
            </a:r>
            <a:endParaRPr lang="es-ES" dirty="0"/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endParaRPr lang="es-ES" noProof="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888B1F-D4C8-762D-1E47-DB7279687C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4D663F8-A7AB-237D-7804-F83D08B8DA59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78EC842-9F23-D642-0771-6D649C4E3BEC}"/>
              </a:ext>
            </a:extLst>
          </p:cNvPr>
          <p:cNvSpPr txBox="1"/>
          <p:nvPr/>
        </p:nvSpPr>
        <p:spPr>
          <a:xfrm>
            <a:off x="457200" y="182880"/>
            <a:ext cx="4573240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rPr lang="es-ES" noProof="0" dirty="0"/>
              <a:t>Capturas adicionales</a:t>
            </a:r>
          </a:p>
        </p:txBody>
      </p:sp>
      <p:pic>
        <p:nvPicPr>
          <p:cNvPr id="6" name="Imagen 5" descr="Interfaz de usuario gráfica, Aplicación&#10;&#10;El contenido generado por IA puede ser incorrecto.">
            <a:extLst>
              <a:ext uri="{FF2B5EF4-FFF2-40B4-BE49-F238E27FC236}">
                <a16:creationId xmlns:a16="http://schemas.microsoft.com/office/drawing/2014/main" id="{D1890B94-EC06-E719-44A7-6A8CEC6CDE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3329" y="1415186"/>
            <a:ext cx="6017342" cy="3201514"/>
          </a:xfrm>
          <a:prstGeom prst="rect">
            <a:avLst/>
          </a:prstGeo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B51245B9-1A11-047A-EAE0-141C297BD04B}"/>
              </a:ext>
            </a:extLst>
          </p:cNvPr>
          <p:cNvSpPr txBox="1"/>
          <p:nvPr/>
        </p:nvSpPr>
        <p:spPr>
          <a:xfrm>
            <a:off x="0" y="1022555"/>
            <a:ext cx="9144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b="1" dirty="0"/>
              <a:t>DOCUMENTACIÓN</a:t>
            </a:r>
          </a:p>
        </p:txBody>
      </p:sp>
      <p:pic>
        <p:nvPicPr>
          <p:cNvPr id="8" name="Imagen 7" descr="Aplicación&#10;&#10;El contenido generado por IA puede ser incorrecto.">
            <a:extLst>
              <a:ext uri="{FF2B5EF4-FFF2-40B4-BE49-F238E27FC236}">
                <a16:creationId xmlns:a16="http://schemas.microsoft.com/office/drawing/2014/main" id="{1F27C335-6B19-B118-34D6-6D49F79F83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3329" y="4613054"/>
            <a:ext cx="6017342" cy="1659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39682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C2D9ED-94F5-6E42-6FF0-2DBA411A46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03A7751-14B3-7B3A-3E60-7EE3A6876E7E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68EF7AA-D62E-9B45-00D1-75CE3577AFB9}"/>
              </a:ext>
            </a:extLst>
          </p:cNvPr>
          <p:cNvSpPr txBox="1"/>
          <p:nvPr/>
        </p:nvSpPr>
        <p:spPr>
          <a:xfrm>
            <a:off x="457200" y="182880"/>
            <a:ext cx="4573240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rPr lang="es-ES" noProof="0" dirty="0"/>
              <a:t>Capturas adicionales</a:t>
            </a:r>
          </a:p>
        </p:txBody>
      </p:sp>
      <p:pic>
        <p:nvPicPr>
          <p:cNvPr id="5" name="Imagen 4" descr="Captura de pantalla de un celular&#10;&#10;El contenido generado por IA puede ser incorrecto.">
            <a:extLst>
              <a:ext uri="{FF2B5EF4-FFF2-40B4-BE49-F238E27FC236}">
                <a16:creationId xmlns:a16="http://schemas.microsoft.com/office/drawing/2014/main" id="{A7F72D41-566C-7461-614B-77FE392E06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45406"/>
            <a:ext cx="9144000" cy="4865046"/>
          </a:xfrm>
          <a:prstGeom prst="rect">
            <a:avLst/>
          </a:prstGeo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3BFFCA1E-4B00-54A2-B1D9-195456983FB1}"/>
              </a:ext>
            </a:extLst>
          </p:cNvPr>
          <p:cNvSpPr txBox="1"/>
          <p:nvPr/>
        </p:nvSpPr>
        <p:spPr>
          <a:xfrm>
            <a:off x="0" y="1093311"/>
            <a:ext cx="9144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b="1" dirty="0"/>
              <a:t>DOCUMENTACIÓN</a:t>
            </a:r>
          </a:p>
        </p:txBody>
      </p:sp>
    </p:spTree>
    <p:extLst>
      <p:ext uri="{BB962C8B-B14F-4D97-AF65-F5344CB8AC3E}">
        <p14:creationId xmlns:p14="http://schemas.microsoft.com/office/powerpoint/2010/main" val="10855758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CB4518-735F-8FD6-0781-9116ECE1A1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A510697-8046-A679-4FF9-768EBF92F723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B149BB-2921-EBE1-8890-984BDFF4F196}"/>
              </a:ext>
            </a:extLst>
          </p:cNvPr>
          <p:cNvSpPr txBox="1"/>
          <p:nvPr/>
        </p:nvSpPr>
        <p:spPr>
          <a:xfrm>
            <a:off x="457200" y="182880"/>
            <a:ext cx="4573240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rPr lang="es-ES" noProof="0" dirty="0"/>
              <a:t>Capturas adicionales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E2200F2A-E9BF-9CB0-064B-F645E5C9CDC8}"/>
              </a:ext>
            </a:extLst>
          </p:cNvPr>
          <p:cNvSpPr txBox="1"/>
          <p:nvPr/>
        </p:nvSpPr>
        <p:spPr>
          <a:xfrm>
            <a:off x="0" y="1093311"/>
            <a:ext cx="9144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b="1" dirty="0"/>
              <a:t>DOCUMENTACIÓN</a:t>
            </a:r>
          </a:p>
        </p:txBody>
      </p:sp>
      <p:pic>
        <p:nvPicPr>
          <p:cNvPr id="4" name="Imagen 3" descr="Interfaz de usuario gráfica, Aplicación, Sitio web&#10;&#10;El contenido generado por IA puede ser incorrecto.">
            <a:extLst>
              <a:ext uri="{FF2B5EF4-FFF2-40B4-BE49-F238E27FC236}">
                <a16:creationId xmlns:a16="http://schemas.microsoft.com/office/drawing/2014/main" id="{67AB3161-996B-6208-DA65-1483D37EF5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37815"/>
            <a:ext cx="9144000" cy="48650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9302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C86F48-E85E-20B1-C45F-BD6FA10DC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60F4C22-CBD1-03DE-861A-059012F3264A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CC97626-4D6E-8A80-18CF-85B96F3A1B88}"/>
              </a:ext>
            </a:extLst>
          </p:cNvPr>
          <p:cNvSpPr txBox="1"/>
          <p:nvPr/>
        </p:nvSpPr>
        <p:spPr>
          <a:xfrm>
            <a:off x="457200" y="182880"/>
            <a:ext cx="4573240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rPr lang="es-ES" noProof="0" dirty="0"/>
              <a:t>Capturas adicionales</a:t>
            </a:r>
          </a:p>
        </p:txBody>
      </p:sp>
      <p:pic>
        <p:nvPicPr>
          <p:cNvPr id="8" name="Imagen 7" descr="Captura de pantalla de un celular&#10;&#10;El contenido generado por IA puede ser incorrecto.">
            <a:extLst>
              <a:ext uri="{FF2B5EF4-FFF2-40B4-BE49-F238E27FC236}">
                <a16:creationId xmlns:a16="http://schemas.microsoft.com/office/drawing/2014/main" id="{79D79DF2-7AEF-5AC7-A42B-36EA110C46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57621"/>
            <a:ext cx="9144000" cy="4860281"/>
          </a:xfrm>
          <a:prstGeom prst="rect">
            <a:avLst/>
          </a:prstGeom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3396056C-CDAC-FA97-4A7F-6647E2E5A772}"/>
              </a:ext>
            </a:extLst>
          </p:cNvPr>
          <p:cNvSpPr txBox="1"/>
          <p:nvPr/>
        </p:nvSpPr>
        <p:spPr>
          <a:xfrm>
            <a:off x="0" y="1093311"/>
            <a:ext cx="9144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b="1" dirty="0"/>
              <a:t>API GATEWAY</a:t>
            </a:r>
          </a:p>
        </p:txBody>
      </p:sp>
    </p:spTree>
    <p:extLst>
      <p:ext uri="{BB962C8B-B14F-4D97-AF65-F5344CB8AC3E}">
        <p14:creationId xmlns:p14="http://schemas.microsoft.com/office/powerpoint/2010/main" val="16379376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71B13A-C2E5-7481-70C9-BFF7B21822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D966B80-942D-2C79-1D96-FE314FFF4B0C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14ECBC1-D04E-1098-AB2D-8205357561EE}"/>
              </a:ext>
            </a:extLst>
          </p:cNvPr>
          <p:cNvSpPr txBox="1"/>
          <p:nvPr/>
        </p:nvSpPr>
        <p:spPr>
          <a:xfrm>
            <a:off x="457200" y="182880"/>
            <a:ext cx="4573240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rPr lang="es-ES" noProof="0" dirty="0"/>
              <a:t>Capturas adicionales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9A2F493E-0A86-0504-BF0F-DF90A7FA2C04}"/>
              </a:ext>
            </a:extLst>
          </p:cNvPr>
          <p:cNvSpPr txBox="1"/>
          <p:nvPr/>
        </p:nvSpPr>
        <p:spPr>
          <a:xfrm>
            <a:off x="0" y="1093311"/>
            <a:ext cx="9144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b="1" dirty="0"/>
              <a:t>API GATEWAY</a:t>
            </a:r>
          </a:p>
        </p:txBody>
      </p:sp>
      <p:pic>
        <p:nvPicPr>
          <p:cNvPr id="5" name="Imagen 4" descr="Captura de pantalla de un celular&#10;&#10;El contenido generado por IA puede ser incorrecto.">
            <a:extLst>
              <a:ext uri="{FF2B5EF4-FFF2-40B4-BE49-F238E27FC236}">
                <a16:creationId xmlns:a16="http://schemas.microsoft.com/office/drawing/2014/main" id="{6E27B1A6-3131-38BE-AB33-11FE885849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59939"/>
            <a:ext cx="9144000" cy="48412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54733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A3F220-0603-5F30-28C4-579FEF3859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D8647A7-3294-C9F2-51E8-873C2F53FE38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D7F5321-5508-4318-E87F-3A4DF4D6FDE2}"/>
              </a:ext>
            </a:extLst>
          </p:cNvPr>
          <p:cNvSpPr txBox="1"/>
          <p:nvPr/>
        </p:nvSpPr>
        <p:spPr>
          <a:xfrm>
            <a:off x="457200" y="182880"/>
            <a:ext cx="2970685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rPr lang="es-ES" noProof="0" dirty="0"/>
              <a:t>Conclusiones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CEE87F1-C3CF-0766-025D-C5E82EE7C11E}"/>
              </a:ext>
            </a:extLst>
          </p:cNvPr>
          <p:cNvSpPr txBox="1"/>
          <p:nvPr/>
        </p:nvSpPr>
        <p:spPr>
          <a:xfrm>
            <a:off x="548640" y="1097280"/>
            <a:ext cx="8046720" cy="23237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sz="1600" b="1" noProof="0" dirty="0"/>
              <a:t>CONCLUSIONES: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noProof="0" dirty="0"/>
              <a:t>  • Plataforma FUNCIONAL y lista para producción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noProof="0" dirty="0"/>
              <a:t>  • </a:t>
            </a:r>
            <a:r>
              <a:rPr lang="es-ES" noProof="0" dirty="0" err="1"/>
              <a:t>Stack</a:t>
            </a:r>
            <a:r>
              <a:rPr lang="es-ES" noProof="0" dirty="0"/>
              <a:t> MODERNO y ESCALABLE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noProof="0" dirty="0"/>
              <a:t>  • SEGURIDAD implementada en todos los niveles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noProof="0" dirty="0"/>
              <a:t>  • MANTENIBLE y fácil de extender con nuevas </a:t>
            </a:r>
            <a:r>
              <a:rPr lang="es-ES" noProof="0" dirty="0" err="1"/>
              <a:t>features</a:t>
            </a:r>
            <a:endParaRPr lang="es-ES" noProof="0" dirty="0"/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noProof="0" dirty="0"/>
              <a:t>  • Demuestra DOMINIO de múltiples tecnologías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rPr lang="es-ES" noProof="0" dirty="0"/>
              <a:t>  • Proyecto que podría comercializarse</a:t>
            </a:r>
          </a:p>
        </p:txBody>
      </p:sp>
    </p:spTree>
    <p:extLst>
      <p:ext uri="{BB962C8B-B14F-4D97-AF65-F5344CB8AC3E}">
        <p14:creationId xmlns:p14="http://schemas.microsoft.com/office/powerpoint/2010/main" val="12276799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135</TotalTime>
  <Words>1163</Words>
  <Application>Microsoft Office PowerPoint</Application>
  <PresentationFormat>Presentación en pantalla (4:3)</PresentationFormat>
  <Paragraphs>160</Paragraphs>
  <Slides>15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Gaizka Carrasco Bastida</cp:lastModifiedBy>
  <cp:revision>21</cp:revision>
  <dcterms:created xsi:type="dcterms:W3CDTF">2013-01-27T09:14:16Z</dcterms:created>
  <dcterms:modified xsi:type="dcterms:W3CDTF">2026-01-02T15:23:18Z</dcterms:modified>
  <cp:category/>
</cp:coreProperties>
</file>