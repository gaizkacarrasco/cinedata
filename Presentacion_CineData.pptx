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39126" y="228600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lang="es-ES" noProof="0" dirty="0" err="1"/>
              <a:t>CineData</a:t>
            </a:r>
            <a:r>
              <a:rPr lang="es-ES" noProof="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00000"/>
                </a:solidFill>
              </a:defRPr>
            </a:pPr>
            <a:r>
              <a:rPr lang="es-ES" noProof="0" dirty="0"/>
              <a:t>Plataforma de Gestión de Películas con Autenticación JWT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9EDD4980-F9DA-6CCE-90EB-812D03E9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725" y="1963648"/>
            <a:ext cx="1660366" cy="16603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s-ES" noProof="0" dirty="0"/>
              <a:t>Objetivo Principal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2361AD-F7B4-EA14-F1F8-2C995085BA1E}"/>
              </a:ext>
            </a:extLst>
          </p:cNvPr>
          <p:cNvSpPr txBox="1"/>
          <p:nvPr/>
        </p:nvSpPr>
        <p:spPr>
          <a:xfrm>
            <a:off x="457200" y="1305341"/>
            <a:ext cx="8229600" cy="5811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OBJETIVO PRINCIPAL: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Desarrollar una plataforma web completa y funcional que permita a los usuarios explorar un catálogo de películas, buscar por criterios específicos y gestionar sus películas favoritas, con un sistema de autenticación segura basado en JWT.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VISIÓN DEL PROYECTO: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Crear un sistema escalable de microservicios que demuestre: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Integración de múltiples tecnologías (Python + Node.js)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Implementación de seguridad en producción (JWT, </a:t>
            </a:r>
            <a:r>
              <a:rPr lang="es-ES" noProof="0" dirty="0" err="1"/>
              <a:t>bcrypt</a:t>
            </a:r>
            <a:r>
              <a:rPr lang="es-ES" noProof="0" dirty="0"/>
              <a:t>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Buenas prácticas de arquitectura (separación de responsabilidades)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Automatización con Docker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Experiencia de usuario moderna (</a:t>
            </a:r>
            <a:r>
              <a:rPr lang="es-ES" noProof="0" dirty="0" err="1"/>
              <a:t>React</a:t>
            </a:r>
            <a:r>
              <a:rPr lang="es-ES" noProof="0" dirty="0"/>
              <a:t> SPA)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COMPETENCIAS DEMOSTRADAS: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Full-</a:t>
            </a:r>
            <a:r>
              <a:rPr lang="es-ES" noProof="0" dirty="0" err="1"/>
              <a:t>Stack</a:t>
            </a:r>
            <a:r>
              <a:rPr lang="es-ES" noProof="0" dirty="0"/>
              <a:t> </a:t>
            </a:r>
            <a:r>
              <a:rPr lang="es-ES" noProof="0" dirty="0" err="1"/>
              <a:t>Development</a:t>
            </a:r>
            <a:r>
              <a:rPr lang="es-ES" noProof="0" dirty="0"/>
              <a:t>: </a:t>
            </a:r>
            <a:r>
              <a:rPr lang="es-ES" noProof="0" dirty="0" err="1"/>
              <a:t>Backend</a:t>
            </a:r>
            <a:r>
              <a:rPr lang="es-ES" noProof="0" dirty="0"/>
              <a:t> + </a:t>
            </a:r>
            <a:r>
              <a:rPr lang="es-ES" noProof="0" dirty="0" err="1"/>
              <a:t>Frontend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Microservicios y </a:t>
            </a:r>
            <a:r>
              <a:rPr lang="es-ES" noProof="0" dirty="0" err="1"/>
              <a:t>APIs</a:t>
            </a:r>
            <a:r>
              <a:rPr lang="es-ES" noProof="0" dirty="0"/>
              <a:t> REST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Gestión de datos en múltiples BD (MongoDB + MySQL)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DevOps: Docker, Docker </a:t>
            </a:r>
            <a:r>
              <a:rPr lang="es-ES" noProof="0" dirty="0" err="1"/>
              <a:t>Compose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  <a:p>
            <a:endParaRPr lang="es-ES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s-ES" noProof="0" dirty="0"/>
              <a:t>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MODELO DE DATOS RELACIONAL Y NO-RELACIONAL: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b="1" noProof="0" dirty="0"/>
              <a:t>MONGODB (NoSQL - Usuarios):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Colección: </a:t>
            </a:r>
            <a:r>
              <a:rPr lang="es-ES" noProof="0" dirty="0" err="1"/>
              <a:t>users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_id: </a:t>
            </a:r>
            <a:r>
              <a:rPr lang="es-ES" noProof="0" dirty="0" err="1"/>
              <a:t>ObjectId</a:t>
            </a:r>
            <a:r>
              <a:rPr lang="es-ES" noProof="0" dirty="0"/>
              <a:t> (PK)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</a:t>
            </a:r>
            <a:r>
              <a:rPr lang="es-ES" noProof="0" dirty="0" err="1"/>
              <a:t>username</a:t>
            </a:r>
            <a:r>
              <a:rPr lang="es-ES" noProof="0" dirty="0"/>
              <a:t>: </a:t>
            </a:r>
            <a:r>
              <a:rPr lang="es-ES" noProof="0" dirty="0" err="1"/>
              <a:t>string</a:t>
            </a:r>
            <a:r>
              <a:rPr lang="es-ES" noProof="0" dirty="0"/>
              <a:t> (único)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email: </a:t>
            </a:r>
            <a:r>
              <a:rPr lang="es-ES" noProof="0" dirty="0" err="1"/>
              <a:t>string</a:t>
            </a:r>
            <a:r>
              <a:rPr lang="es-ES" noProof="0" dirty="0"/>
              <a:t> (único)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</a:t>
            </a:r>
            <a:r>
              <a:rPr lang="es-ES" noProof="0" dirty="0" err="1"/>
              <a:t>password_hash</a:t>
            </a:r>
            <a:r>
              <a:rPr lang="es-ES" noProof="0" dirty="0"/>
              <a:t>: </a:t>
            </a:r>
            <a:r>
              <a:rPr lang="es-ES" noProof="0" dirty="0" err="1"/>
              <a:t>string</a:t>
            </a:r>
            <a:r>
              <a:rPr lang="es-ES" noProof="0" dirty="0"/>
              <a:t> (</a:t>
            </a:r>
            <a:r>
              <a:rPr lang="es-ES" noProof="0" dirty="0" err="1"/>
              <a:t>bcrypt</a:t>
            </a:r>
            <a:r>
              <a:rPr lang="es-ES" noProof="0" dirty="0"/>
              <a:t>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role: </a:t>
            </a:r>
            <a:r>
              <a:rPr lang="es-ES" noProof="0" dirty="0" err="1"/>
              <a:t>string</a:t>
            </a:r>
            <a:r>
              <a:rPr lang="es-ES" noProof="0" dirty="0"/>
              <a:t> (</a:t>
            </a:r>
            <a:r>
              <a:rPr lang="es-ES" noProof="0" dirty="0" err="1"/>
              <a:t>user</a:t>
            </a:r>
            <a:r>
              <a:rPr lang="es-ES" noProof="0" dirty="0"/>
              <a:t>/</a:t>
            </a:r>
            <a:r>
              <a:rPr lang="es-ES" noProof="0" dirty="0" err="1"/>
              <a:t>admin</a:t>
            </a:r>
            <a:r>
              <a:rPr lang="es-ES" noProof="0" dirty="0"/>
              <a:t>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favorites: </a:t>
            </a:r>
            <a:r>
              <a:rPr lang="es-ES" sz="1500" noProof="0" dirty="0"/>
              <a:t>(</a:t>
            </a:r>
            <a:r>
              <a:rPr lang="es-ES" sz="1500" noProof="0" dirty="0" err="1"/>
              <a:t>List</a:t>
            </a:r>
            <a:r>
              <a:rPr lang="es-ES" sz="1500" noProof="0" dirty="0"/>
              <a:t>[</a:t>
            </a:r>
            <a:r>
              <a:rPr lang="es-ES" sz="1500" noProof="0" dirty="0" err="1"/>
              <a:t>int</a:t>
            </a:r>
            <a:r>
              <a:rPr lang="es-ES" sz="1500" noProof="0" dirty="0"/>
              <a:t>] - </a:t>
            </a:r>
            <a:r>
              <a:rPr lang="es-ES" sz="1500" noProof="0" dirty="0" err="1"/>
              <a:t>IDs</a:t>
            </a:r>
            <a:r>
              <a:rPr lang="es-ES" sz="1500" noProof="0" dirty="0"/>
              <a:t> de películas)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b="1" noProof="0" dirty="0"/>
              <a:t>RELACIÓN ENTRE TABLAS: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users.favorites</a:t>
            </a:r>
            <a:r>
              <a:rPr lang="es-ES" noProof="0" dirty="0"/>
              <a:t> -&gt; almacena </a:t>
            </a:r>
            <a:r>
              <a:rPr lang="es-ES" noProof="0" dirty="0" err="1"/>
              <a:t>IDs</a:t>
            </a:r>
            <a:r>
              <a:rPr lang="es-ES" noProof="0" dirty="0"/>
              <a:t> de </a:t>
            </a:r>
            <a:r>
              <a:rPr lang="es-ES" noProof="0" dirty="0" err="1"/>
              <a:t>movies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Denormalización</a:t>
            </a:r>
            <a:r>
              <a:rPr lang="es-ES" noProof="0" dirty="0"/>
              <a:t> intencional para optimizar consultas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Facilita búsquedas rápidas de favoritos por usuario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5D99DC-0C96-9CD1-CB7D-67F2E86C8D9A}"/>
              </a:ext>
            </a:extLst>
          </p:cNvPr>
          <p:cNvSpPr txBox="1"/>
          <p:nvPr/>
        </p:nvSpPr>
        <p:spPr>
          <a:xfrm>
            <a:off x="5889524" y="1464212"/>
            <a:ext cx="2908266" cy="365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b="1" noProof="0" dirty="0"/>
              <a:t>MYSQL (Relacional - Películas):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Tabla: </a:t>
            </a:r>
            <a:r>
              <a:rPr lang="es-ES" noProof="0" dirty="0" err="1"/>
              <a:t>movies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id: INT (PK)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</a:t>
            </a:r>
            <a:r>
              <a:rPr lang="es-ES" noProof="0" dirty="0" err="1"/>
              <a:t>external_id</a:t>
            </a:r>
            <a:r>
              <a:rPr lang="es-ES" noProof="0" dirty="0"/>
              <a:t>: INT (único)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</a:t>
            </a:r>
            <a:r>
              <a:rPr lang="es-ES" noProof="0" dirty="0" err="1"/>
              <a:t>title</a:t>
            </a:r>
            <a:r>
              <a:rPr lang="es-ES" noProof="0" dirty="0"/>
              <a:t>: VARCHAR (título)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</a:t>
            </a:r>
            <a:r>
              <a:rPr lang="es-ES" noProof="0" dirty="0" err="1"/>
              <a:t>description</a:t>
            </a:r>
            <a:r>
              <a:rPr lang="es-ES" noProof="0" dirty="0"/>
              <a:t>: 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</a:t>
            </a:r>
            <a:r>
              <a:rPr lang="es-ES" noProof="0" dirty="0" err="1"/>
              <a:t>year</a:t>
            </a:r>
            <a:r>
              <a:rPr lang="es-ES" noProof="0" dirty="0"/>
              <a:t>: INT (año lanzamiento)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</a:t>
            </a:r>
            <a:r>
              <a:rPr lang="es-ES" noProof="0" dirty="0" err="1"/>
              <a:t>image_url</a:t>
            </a:r>
            <a:r>
              <a:rPr lang="es-ES" noProof="0" dirty="0"/>
              <a:t>: VARCHAR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</a:t>
            </a:r>
            <a:r>
              <a:rPr lang="es-ES" noProof="0" dirty="0" err="1"/>
              <a:t>genre</a:t>
            </a:r>
            <a:r>
              <a:rPr lang="es-ES" noProof="0" dirty="0"/>
              <a:t>: VARCHAR (género)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└─ </a:t>
            </a:r>
            <a:r>
              <a:rPr lang="es-ES" noProof="0" dirty="0" err="1"/>
              <a:t>stars</a:t>
            </a:r>
            <a:r>
              <a:rPr lang="es-ES" noProof="0" dirty="0"/>
              <a:t>: DECIMAL (valoración)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s-ES" noProof="0" dirty="0"/>
              <a:t>Funcionalidades &amp; </a:t>
            </a:r>
            <a:r>
              <a:rPr lang="es-ES" noProof="0" dirty="0" err="1"/>
              <a:t>APIs</a:t>
            </a:r>
            <a:endParaRPr lang="es-E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4447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AUTENTICACIÓN Y USUARIOS: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Registro con validación de email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Login</a:t>
            </a:r>
            <a:r>
              <a:rPr lang="es-ES" noProof="0" dirty="0"/>
              <a:t> con generación de JWT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Logout</a:t>
            </a:r>
            <a:r>
              <a:rPr lang="es-ES" noProof="0" dirty="0"/>
              <a:t> con revocación de tokens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Contraseñas </a:t>
            </a:r>
            <a:r>
              <a:rPr lang="es-ES" noProof="0" dirty="0" err="1"/>
              <a:t>hasheadas</a:t>
            </a:r>
            <a:r>
              <a:rPr lang="es-ES" noProof="0" dirty="0"/>
              <a:t> con </a:t>
            </a:r>
            <a:r>
              <a:rPr lang="es-ES" noProof="0" dirty="0" err="1"/>
              <a:t>bcrypt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CATÁLOGO DE PELÍCULAS: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Listado completo con información detallada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Búsqueda en tiempo real por título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Filtros por género, año de lanzamiento y valoración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Vista modal con detalles de película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SISTEMA DE FAVORITOS: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Guardar películas como favoritas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Vista dedicada para favoritos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Sincronización en tiempo real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6FB84E-E914-3794-2E50-98AA5E661E97}"/>
              </a:ext>
            </a:extLst>
          </p:cNvPr>
          <p:cNvSpPr txBox="1"/>
          <p:nvPr/>
        </p:nvSpPr>
        <p:spPr>
          <a:xfrm>
            <a:off x="5093110" y="1097280"/>
            <a:ext cx="378541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PANEL ADMINISTRATIVO: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Listar todos los usuarios del sistema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Eliminar usuarios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Control de acceso restringido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 err="1"/>
              <a:t>APIs</a:t>
            </a:r>
            <a:r>
              <a:rPr lang="es-ES" sz="1600" b="1" noProof="0" dirty="0"/>
              <a:t> REST: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UserService</a:t>
            </a:r>
            <a:r>
              <a:rPr lang="es-ES" noProof="0" dirty="0"/>
              <a:t>: 10+ </a:t>
            </a:r>
            <a:r>
              <a:rPr lang="es-ES" noProof="0" dirty="0" err="1"/>
              <a:t>endpoints</a:t>
            </a:r>
            <a:r>
              <a:rPr lang="es-ES" noProof="0" dirty="0"/>
              <a:t> (</a:t>
            </a:r>
            <a:r>
              <a:rPr lang="es-ES" noProof="0" dirty="0" err="1"/>
              <a:t>FastAPI</a:t>
            </a:r>
            <a:r>
              <a:rPr lang="es-ES" noProof="0" dirty="0"/>
              <a:t> en Python)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MovieService</a:t>
            </a:r>
            <a:r>
              <a:rPr lang="es-ES" noProof="0" dirty="0"/>
              <a:t>: 4+ </a:t>
            </a:r>
            <a:r>
              <a:rPr lang="es-ES" noProof="0" dirty="0" err="1"/>
              <a:t>endpoints</a:t>
            </a:r>
            <a:r>
              <a:rPr lang="es-ES" noProof="0" dirty="0"/>
              <a:t> (Express en Node.js)</a:t>
            </a:r>
          </a:p>
          <a:p>
            <a:endParaRPr lang="es-ES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E549F-D310-63EA-1A24-940498BAC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44AB3C-6CB7-49CF-E341-1F0369EA5DD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E7A95-2F9A-0E87-1FBD-3FED4608977D}"/>
              </a:ext>
            </a:extLst>
          </p:cNvPr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s-ES" noProof="0" dirty="0"/>
              <a:t>Arquitectura &amp; Tecnologías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C2497-1A5E-3145-D9EA-C746F8B4CD85}"/>
              </a:ext>
            </a:extLst>
          </p:cNvPr>
          <p:cNvSpPr txBox="1"/>
          <p:nvPr/>
        </p:nvSpPr>
        <p:spPr>
          <a:xfrm>
            <a:off x="548640" y="1097280"/>
            <a:ext cx="804672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TIPO DE ARQUITECTURA: MICROSERVICIOS CON API GATEWAY: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API Gateway centralizado (Express.js en Node.js)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2 servicios </a:t>
            </a:r>
            <a:r>
              <a:rPr lang="es-ES" noProof="0" dirty="0" err="1"/>
              <a:t>backend</a:t>
            </a:r>
            <a:r>
              <a:rPr lang="es-ES" noProof="0" dirty="0"/>
              <a:t> independientes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2 bases de datos especializadas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Frontend</a:t>
            </a:r>
            <a:r>
              <a:rPr lang="es-ES" noProof="0" dirty="0"/>
              <a:t> desvinculado de la lógica del servidor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Cada servicio puede escalarse independientemente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STACK TECNOLÓGICO: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API Gateway: Express.js en Node.js (puerto 8080)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Backend</a:t>
            </a:r>
            <a:r>
              <a:rPr lang="es-ES" noProof="0" dirty="0"/>
              <a:t> 1: </a:t>
            </a:r>
            <a:r>
              <a:rPr lang="es-ES" noProof="0" dirty="0" err="1"/>
              <a:t>FastAPI</a:t>
            </a:r>
            <a:r>
              <a:rPr lang="es-ES" noProof="0" dirty="0"/>
              <a:t> + Motor (</a:t>
            </a:r>
            <a:r>
              <a:rPr lang="es-ES" noProof="0" dirty="0" err="1"/>
              <a:t>async</a:t>
            </a:r>
            <a:r>
              <a:rPr lang="es-ES" noProof="0" dirty="0"/>
              <a:t> MongoDB) en Python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Backend</a:t>
            </a:r>
            <a:r>
              <a:rPr lang="es-ES" noProof="0" dirty="0"/>
              <a:t> 2: Express.js + MySQL en Node.js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Frontend</a:t>
            </a:r>
            <a:r>
              <a:rPr lang="es-ES" noProof="0" dirty="0"/>
              <a:t>: </a:t>
            </a:r>
            <a:r>
              <a:rPr lang="es-ES" noProof="0" dirty="0" err="1"/>
              <a:t>React</a:t>
            </a:r>
            <a:r>
              <a:rPr lang="es-ES" noProof="0" dirty="0"/>
              <a:t> 19 + Vite + </a:t>
            </a:r>
            <a:r>
              <a:rPr lang="es-ES" noProof="0" dirty="0" err="1"/>
              <a:t>React</a:t>
            </a:r>
            <a:r>
              <a:rPr lang="es-ES" noProof="0" dirty="0"/>
              <a:t> </a:t>
            </a:r>
            <a:r>
              <a:rPr lang="es-ES" noProof="0" dirty="0" err="1"/>
              <a:t>Router</a:t>
            </a:r>
            <a:r>
              <a:rPr lang="es-ES" noProof="0" dirty="0"/>
              <a:t> v7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DevOps: Docker + Docker </a:t>
            </a:r>
            <a:r>
              <a:rPr lang="es-ES" noProof="0" dirty="0" err="1"/>
              <a:t>Compose</a:t>
            </a:r>
            <a:r>
              <a:rPr lang="es-ES" noProof="0" dirty="0"/>
              <a:t> + </a:t>
            </a:r>
            <a:r>
              <a:rPr lang="es-ES" noProof="0" dirty="0" err="1"/>
              <a:t>Nginx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86479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s-ES" noProof="0" dirty="0"/>
              <a:t>Arquitectura &amp; Tecnologías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b="1" noProof="0" dirty="0"/>
              <a:t>API GATEWAY - PUNTO DE ENTRADA ÚNICO: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Autenticación JWT centralizada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Proxy inverso inteligente hacia servicios </a:t>
            </a:r>
            <a:r>
              <a:rPr lang="es-ES" noProof="0" dirty="0" err="1"/>
              <a:t>backend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Mapeo de rutas: /</a:t>
            </a:r>
            <a:r>
              <a:rPr lang="es-ES" noProof="0" dirty="0" err="1"/>
              <a:t>auth</a:t>
            </a:r>
            <a:r>
              <a:rPr lang="es-ES" noProof="0" dirty="0"/>
              <a:t>/* → /</a:t>
            </a:r>
            <a:r>
              <a:rPr lang="es-ES" noProof="0" dirty="0" err="1"/>
              <a:t>users</a:t>
            </a:r>
            <a:r>
              <a:rPr lang="es-ES" noProof="0" dirty="0"/>
              <a:t>/* (</a:t>
            </a:r>
            <a:r>
              <a:rPr lang="es-ES" noProof="0" dirty="0" err="1"/>
              <a:t>users</a:t>
            </a:r>
            <a:r>
              <a:rPr lang="es-ES" noProof="0" dirty="0"/>
              <a:t> </a:t>
            </a:r>
            <a:r>
              <a:rPr lang="es-ES" noProof="0" dirty="0" err="1"/>
              <a:t>service</a:t>
            </a:r>
            <a:r>
              <a:rPr lang="es-ES" noProof="0" dirty="0"/>
              <a:t>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Manejo de rutas públicas y protegidas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Logging</a:t>
            </a:r>
            <a:r>
              <a:rPr lang="es-ES" noProof="0" dirty="0"/>
              <a:t> centralizado con Morgan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CORS configurado para </a:t>
            </a:r>
            <a:r>
              <a:rPr lang="es-ES" noProof="0" dirty="0" err="1"/>
              <a:t>frontend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b="1" noProof="0" dirty="0"/>
              <a:t>ARQUITECTURA DE FRONTEND: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SPA (Single Page </a:t>
            </a:r>
            <a:r>
              <a:rPr lang="es-ES" noProof="0" dirty="0" err="1"/>
              <a:t>Application</a:t>
            </a:r>
            <a:r>
              <a:rPr lang="es-ES" noProof="0" dirty="0"/>
              <a:t>) con </a:t>
            </a:r>
            <a:r>
              <a:rPr lang="es-ES" noProof="0" dirty="0" err="1"/>
              <a:t>React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CSR (Client-</a:t>
            </a:r>
            <a:r>
              <a:rPr lang="es-ES" noProof="0" dirty="0" err="1"/>
              <a:t>Side</a:t>
            </a:r>
            <a:r>
              <a:rPr lang="es-ES" noProof="0" dirty="0"/>
              <a:t> </a:t>
            </a:r>
            <a:r>
              <a:rPr lang="es-ES" noProof="0" dirty="0" err="1"/>
              <a:t>Rendering</a:t>
            </a:r>
            <a:r>
              <a:rPr lang="es-ES" noProof="0" dirty="0"/>
              <a:t>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Enrutamiento con </a:t>
            </a:r>
            <a:r>
              <a:rPr lang="es-ES" noProof="0" dirty="0" err="1"/>
              <a:t>React</a:t>
            </a:r>
            <a:r>
              <a:rPr lang="es-ES" noProof="0" dirty="0"/>
              <a:t> </a:t>
            </a:r>
            <a:r>
              <a:rPr lang="es-ES" noProof="0" dirty="0" err="1"/>
              <a:t>Router</a:t>
            </a:r>
            <a:r>
              <a:rPr lang="es-ES" noProof="0" dirty="0"/>
              <a:t> v7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Comunicación con </a:t>
            </a:r>
            <a:r>
              <a:rPr lang="es-ES" noProof="0" dirty="0" err="1"/>
              <a:t>gateway</a:t>
            </a:r>
            <a:r>
              <a:rPr lang="es-ES" noProof="0" dirty="0"/>
              <a:t> en puerto 8080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b="1" noProof="0" dirty="0"/>
              <a:t>FLUJO DE COMUNICACIÓN: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</a:t>
            </a:r>
            <a:r>
              <a:rPr lang="es-ES" noProof="0" dirty="0" err="1"/>
              <a:t>Frontend</a:t>
            </a:r>
            <a:r>
              <a:rPr lang="es-ES" noProof="0" dirty="0"/>
              <a:t> (5173) → API Gateway (8080) → Servicios (8000, 3001)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s-ES" noProof="0" dirty="0"/>
              <a:t>Lecciones &amp; Aspectos Avanzados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LECCIONES APRENDIDAS: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Integración eficiente de múltiples lenguajes (Python + Node.js)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Orquestación compleja con Docker </a:t>
            </a:r>
            <a:r>
              <a:rPr lang="es-ES" noProof="0" dirty="0" err="1"/>
              <a:t>Compose</a:t>
            </a:r>
            <a:r>
              <a:rPr lang="es-ES" noProof="0" dirty="0"/>
              <a:t> (6 contenedores)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Gestión de dependencias entre servicios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Implementación de API Gateway para centralizar autenticación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ASPECTOS AVANZADOS IMPLEMENTADOS: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API Gateway con proxy inverso inteligente (</a:t>
            </a:r>
            <a:r>
              <a:rPr lang="es-ES" noProof="0" dirty="0" err="1"/>
              <a:t>express</a:t>
            </a:r>
            <a:r>
              <a:rPr lang="es-ES" noProof="0" dirty="0"/>
              <a:t>-http-proxy)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Mapeo de rutas y validación centralizada de JWT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Async</a:t>
            </a:r>
            <a:r>
              <a:rPr lang="es-ES" noProof="0" dirty="0"/>
              <a:t>/</a:t>
            </a:r>
            <a:r>
              <a:rPr lang="es-ES" noProof="0" dirty="0" err="1"/>
              <a:t>await</a:t>
            </a:r>
            <a:r>
              <a:rPr lang="es-ES" noProof="0" dirty="0"/>
              <a:t> en </a:t>
            </a:r>
            <a:r>
              <a:rPr lang="es-ES" noProof="0" dirty="0" err="1"/>
              <a:t>FastAPI</a:t>
            </a:r>
            <a:r>
              <a:rPr lang="es-ES" noProof="0" dirty="0"/>
              <a:t>: operaciones no-bloqueantes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Motor: driver </a:t>
            </a:r>
            <a:r>
              <a:rPr lang="es-ES" noProof="0" dirty="0" err="1"/>
              <a:t>async</a:t>
            </a:r>
            <a:r>
              <a:rPr lang="es-ES" noProof="0" dirty="0"/>
              <a:t> para MongoDB con alta concurrencia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JWT con tokens con expiración y revocación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CORS configurado en </a:t>
            </a:r>
            <a:r>
              <a:rPr lang="es-ES" noProof="0" dirty="0" err="1"/>
              <a:t>gateway</a:t>
            </a:r>
            <a:r>
              <a:rPr lang="es-ES" noProof="0" dirty="0"/>
              <a:t> y </a:t>
            </a:r>
            <a:r>
              <a:rPr lang="es-ES" noProof="0" dirty="0" err="1"/>
              <a:t>backends</a:t>
            </a:r>
            <a:r>
              <a:rPr lang="es-ES" noProof="0" dirty="0"/>
              <a:t> para seguridad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Rutas protegidas: </a:t>
            </a:r>
            <a:r>
              <a:rPr lang="es-ES" noProof="0" dirty="0" err="1"/>
              <a:t>ProtectedRoute</a:t>
            </a:r>
            <a:r>
              <a:rPr lang="es-ES" noProof="0" dirty="0"/>
              <a:t> y </a:t>
            </a:r>
            <a:r>
              <a:rPr lang="es-ES" noProof="0" dirty="0" err="1"/>
              <a:t>AdminRoute</a:t>
            </a:r>
            <a:r>
              <a:rPr lang="es-ES" noProof="0" dirty="0"/>
              <a:t> en </a:t>
            </a:r>
            <a:r>
              <a:rPr lang="es-ES" noProof="0" dirty="0" err="1"/>
              <a:t>React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Validación de entrada con </a:t>
            </a:r>
            <a:r>
              <a:rPr lang="es-ES" noProof="0" dirty="0" err="1"/>
              <a:t>Pydantic</a:t>
            </a:r>
            <a:r>
              <a:rPr lang="es-ES" noProof="0" dirty="0"/>
              <a:t> </a:t>
            </a:r>
            <a:r>
              <a:rPr lang="es-ES" noProof="0" dirty="0" err="1"/>
              <a:t>schemas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Hashing</a:t>
            </a:r>
            <a:r>
              <a:rPr lang="es-ES" noProof="0" dirty="0"/>
              <a:t> seguro de contraseñas con </a:t>
            </a:r>
            <a:r>
              <a:rPr lang="es-ES" noProof="0" dirty="0" err="1"/>
              <a:t>bcrypt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Control de acceso basado en roles (RBAC)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B6CEC-3A0A-7E86-359E-F2B7EB5D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A376FE-2887-500A-7FE4-8915C73D39C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04EC49-C050-28A9-3878-B1B0D743B423}"/>
              </a:ext>
            </a:extLst>
          </p:cNvPr>
          <p:cNvSpPr txBox="1"/>
          <p:nvPr/>
        </p:nvSpPr>
        <p:spPr>
          <a:xfrm>
            <a:off x="457200" y="182880"/>
            <a:ext cx="614257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s-ES" noProof="0" dirty="0"/>
              <a:t>Razonamiento sobre la nota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65490-222F-9F8D-8C30-7F19A8B1488A}"/>
              </a:ext>
            </a:extLst>
          </p:cNvPr>
          <p:cNvSpPr txBox="1"/>
          <p:nvPr/>
        </p:nvSpPr>
        <p:spPr>
          <a:xfrm>
            <a:off x="548640" y="1097280"/>
            <a:ext cx="804672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POR QUÉ MERECE MI PROYECTO BUENA NOTA: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• Sistema COMPLETO y FUNCIONAL (Full-</a:t>
            </a:r>
            <a:r>
              <a:rPr lang="es-ES" noProof="0" dirty="0" err="1"/>
              <a:t>Stack</a:t>
            </a:r>
            <a:r>
              <a:rPr lang="es-ES" noProof="0" dirty="0"/>
              <a:t> + Gateway)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• Arquitectura PROFESIONAL (3-tier con API Gateway)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• SEGURIDAD en múltiples niveles (JWT + RBAC + CORS)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• BUENAS PRÁCTICAS y patrones de diseño actuales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• ESCALABLE y MANTENIBLE para producción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• </a:t>
            </a:r>
            <a:r>
              <a:rPr lang="es-ES" noProof="0" dirty="0" err="1"/>
              <a:t>Containerizado</a:t>
            </a:r>
            <a:r>
              <a:rPr lang="es-ES" noProof="0" dirty="0"/>
              <a:t> con Docker para reproducibilidad</a:t>
            </a:r>
          </a:p>
        </p:txBody>
      </p:sp>
    </p:spTree>
    <p:extLst>
      <p:ext uri="{BB962C8B-B14F-4D97-AF65-F5344CB8AC3E}">
        <p14:creationId xmlns:p14="http://schemas.microsoft.com/office/powerpoint/2010/main" val="1324793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45905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s-ES" noProof="0" dirty="0"/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PASOS DE LA DEMO: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1. Acceder a http://localhost:5173 (</a:t>
            </a:r>
            <a:r>
              <a:rPr lang="es-ES" noProof="0" dirty="0" err="1"/>
              <a:t>Frontend</a:t>
            </a:r>
            <a:r>
              <a:rPr lang="es-ES" noProof="0" dirty="0"/>
              <a:t> </a:t>
            </a:r>
            <a:r>
              <a:rPr lang="es-ES" noProof="0" dirty="0" err="1"/>
              <a:t>React</a:t>
            </a:r>
            <a:r>
              <a:rPr lang="es-ES" noProof="0" dirty="0"/>
              <a:t>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2. Registrarse con email y contraseña (JWT generado)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3. Explorar catálogo completo de películas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4. Búsqueda en tiempo real por título de película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5. Filtrar películas por género (</a:t>
            </a:r>
            <a:r>
              <a:rPr lang="es-ES" noProof="0" dirty="0" err="1"/>
              <a:t>Action</a:t>
            </a:r>
            <a:r>
              <a:rPr lang="es-ES" noProof="0" dirty="0"/>
              <a:t>, Drama, etc.)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6. Filtrar películas por año de lanzamiento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7. Hacer clic en película para ver detalles en modal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8. Guardar/quitar películas de favoritos (⭐)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9. Ver sección de películas favoritas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10. Panel </a:t>
            </a:r>
            <a:r>
              <a:rPr lang="es-ES" noProof="0" dirty="0" err="1"/>
              <a:t>Admin</a:t>
            </a:r>
            <a:r>
              <a:rPr lang="es-ES" noProof="0" dirty="0"/>
              <a:t> (usuario </a:t>
            </a:r>
            <a:r>
              <a:rPr lang="es-ES" noProof="0" dirty="0" err="1"/>
              <a:t>admin</a:t>
            </a:r>
            <a:r>
              <a:rPr lang="es-ES" noProof="0" dirty="0"/>
              <a:t>): ver y eliminar usuarios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11. </a:t>
            </a:r>
            <a:r>
              <a:rPr lang="es-ES" noProof="0" dirty="0" err="1"/>
              <a:t>Logout</a:t>
            </a:r>
            <a:r>
              <a:rPr lang="es-ES" noProof="0" dirty="0"/>
              <a:t> seguro (revocación de token)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dirty="0"/>
              <a:t>ENLACE AL VÍDEO: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URL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endParaRPr lang="es-ES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F220-0603-5F30-28C4-579FEF385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8647A7-3294-C9F2-51E8-873C2F53FE3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F5321-5508-4318-E87F-3A4DF4D6FDE2}"/>
              </a:ext>
            </a:extLst>
          </p:cNvPr>
          <p:cNvSpPr txBox="1"/>
          <p:nvPr/>
        </p:nvSpPr>
        <p:spPr>
          <a:xfrm>
            <a:off x="457200" y="182880"/>
            <a:ext cx="297068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s-ES" noProof="0" dirty="0"/>
              <a:t>Conclusiones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EE87F1-C3CF-0766-025D-C5E82EE7C11E}"/>
              </a:ext>
            </a:extLst>
          </p:cNvPr>
          <p:cNvSpPr txBox="1"/>
          <p:nvPr/>
        </p:nvSpPr>
        <p:spPr>
          <a:xfrm>
            <a:off x="548640" y="1097280"/>
            <a:ext cx="804672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sz="1600" b="1" noProof="0" dirty="0"/>
              <a:t>CONCLUSIONES: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Plataforma FUNCIONAL y lista para producción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</a:t>
            </a:r>
            <a:r>
              <a:rPr lang="es-ES" noProof="0" dirty="0" err="1"/>
              <a:t>Stack</a:t>
            </a:r>
            <a:r>
              <a:rPr lang="es-ES" noProof="0" dirty="0"/>
              <a:t> MODERNO y ESCALABLE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SEGURIDAD implementada en todos los niveles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MANTENIBLE y fácil de extender con nuevas </a:t>
            </a:r>
            <a:r>
              <a:rPr lang="es-ES" noProof="0" dirty="0" err="1"/>
              <a:t>features</a:t>
            </a:r>
            <a:endParaRPr lang="es-ES" noProof="0" dirty="0"/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Demuestra DOMINIO de múltiples tecnologías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rPr lang="es-ES" noProof="0" dirty="0"/>
              <a:t>  • Proyecto que podría comercializarse</a:t>
            </a:r>
          </a:p>
        </p:txBody>
      </p:sp>
    </p:spTree>
    <p:extLst>
      <p:ext uri="{BB962C8B-B14F-4D97-AF65-F5344CB8AC3E}">
        <p14:creationId xmlns:p14="http://schemas.microsoft.com/office/powerpoint/2010/main" val="122767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1126</Words>
  <Application>Microsoft Office PowerPoint</Application>
  <PresentationFormat>Presentación en pantalla (4:3)</PresentationFormat>
  <Paragraphs>150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Gaizka Carrasco Bastida</cp:lastModifiedBy>
  <cp:revision>19</cp:revision>
  <dcterms:created xsi:type="dcterms:W3CDTF">2013-01-27T09:14:16Z</dcterms:created>
  <dcterms:modified xsi:type="dcterms:W3CDTF">2026-01-01T16:54:17Z</dcterms:modified>
  <cp:category/>
</cp:coreProperties>
</file>